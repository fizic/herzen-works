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0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02CBD-0D3D-A43C-69F1-49366057D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800" dirty="0"/>
              <a:t>Дипломная работа</a:t>
            </a:r>
            <a:br>
              <a:rPr lang="ru-RU" sz="2800" dirty="0"/>
            </a:br>
            <a:br>
              <a:rPr lang="ru-RU" sz="2800" dirty="0"/>
            </a:br>
            <a:r>
              <a:rPr lang="ru-RU" sz="2800" dirty="0"/>
              <a:t>Тема</a:t>
            </a:r>
            <a:r>
              <a:rPr lang="en-US" sz="2800" dirty="0"/>
              <a:t>: </a:t>
            </a:r>
            <a:r>
              <a:rPr lang="ru-RU" sz="2800" dirty="0"/>
              <a:t>Разработка инструмента для восстановления базы данных </a:t>
            </a:r>
            <a:r>
              <a:rPr lang="en-US" sz="2800" dirty="0"/>
              <a:t>MySQL </a:t>
            </a:r>
            <a:r>
              <a:rPr lang="ru-RU" sz="2800" dirty="0"/>
              <a:t>на точку во времени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6430B0-3A8C-D2A4-6B1A-3338773A2C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400" dirty="0"/>
              <a:t>Студент группы ИВТ-1</a:t>
            </a:r>
          </a:p>
          <a:p>
            <a:r>
              <a:rPr lang="ru-RU" sz="1400" dirty="0"/>
              <a:t>Фирсов Кирилл Александрович</a:t>
            </a:r>
          </a:p>
        </p:txBody>
      </p:sp>
    </p:spTree>
    <p:extLst>
      <p:ext uri="{BB962C8B-B14F-4D97-AF65-F5344CB8AC3E}">
        <p14:creationId xmlns:p14="http://schemas.microsoft.com/office/powerpoint/2010/main" val="185233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06942-27B6-7C92-9F79-3709AD89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2D63F6-3CD1-EAA8-0036-97663FAB0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Современные информационные системы обрабатывают большие объемы данных и требуют высокой надежности хранения.</a:t>
            </a:r>
          </a:p>
          <a:p>
            <a:pPr marL="0" indent="0">
              <a:buNone/>
            </a:pPr>
            <a:r>
              <a:rPr lang="ru-RU" dirty="0"/>
              <a:t>Потеря части данных может возникнуть из-за:</a:t>
            </a:r>
          </a:p>
          <a:p>
            <a:r>
              <a:rPr lang="ru-RU" dirty="0"/>
              <a:t>сбоя оборудования; </a:t>
            </a:r>
          </a:p>
          <a:p>
            <a:r>
              <a:rPr lang="ru-RU" dirty="0"/>
              <a:t>ошибки программного обеспечения; </a:t>
            </a:r>
          </a:p>
          <a:p>
            <a:r>
              <a:rPr lang="ru-RU" dirty="0"/>
              <a:t>некорректных действий пользователя; </a:t>
            </a:r>
          </a:p>
          <a:p>
            <a:r>
              <a:rPr lang="ru-RU" dirty="0"/>
              <a:t>повреждения или удаления данных. </a:t>
            </a:r>
          </a:p>
          <a:p>
            <a:pPr marL="0" indent="0">
              <a:buNone/>
            </a:pPr>
            <a:r>
              <a:rPr lang="ru-RU" dirty="0"/>
              <a:t>Для таких случаев важно иметь возможность восстановить базу данных не только из резервной копии, но и на конкретный момент времени.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029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E0352-E31F-E06C-3C27-796C1C2E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7D6F74-DDC1-2D5C-1118-7A1DA03A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Цель работы:</a:t>
            </a:r>
            <a:br>
              <a:rPr lang="ru-RU" dirty="0"/>
            </a:br>
            <a:r>
              <a:rPr lang="ru-RU" dirty="0"/>
              <a:t>разработать инструмент для восстановления базы данных </a:t>
            </a:r>
            <a:r>
              <a:rPr lang="en" dirty="0"/>
              <a:t>MySQL </a:t>
            </a:r>
            <a:r>
              <a:rPr lang="ru-RU" dirty="0"/>
              <a:t>на заданную точку во времени с использованием бинарных логов.</a:t>
            </a:r>
          </a:p>
          <a:p>
            <a:pPr marL="0" indent="0">
              <a:buNone/>
            </a:pPr>
            <a:r>
              <a:rPr lang="ru-RU" b="1" dirty="0"/>
              <a:t>Основные задачи:</a:t>
            </a:r>
            <a:endParaRPr lang="ru-RU" dirty="0"/>
          </a:p>
          <a:p>
            <a:r>
              <a:rPr lang="ru-RU" dirty="0"/>
              <a:t>изучить механизмы резервного копирования </a:t>
            </a:r>
            <a:r>
              <a:rPr lang="en" dirty="0"/>
              <a:t>MySQL; </a:t>
            </a:r>
          </a:p>
          <a:p>
            <a:r>
              <a:rPr lang="ru-RU" dirty="0"/>
              <a:t>рассмотреть восстановление </a:t>
            </a:r>
            <a:r>
              <a:rPr lang="en" dirty="0"/>
              <a:t>Point-in-Time Recovery; </a:t>
            </a:r>
          </a:p>
          <a:p>
            <a:r>
              <a:rPr lang="ru-RU" dirty="0"/>
              <a:t>проанализировать ограничения существующего подхода; </a:t>
            </a:r>
          </a:p>
          <a:p>
            <a:r>
              <a:rPr lang="ru-RU" dirty="0"/>
              <a:t>реализовать режим </a:t>
            </a:r>
            <a:r>
              <a:rPr lang="en" dirty="0" err="1"/>
              <a:t>wal</a:t>
            </a:r>
            <a:r>
              <a:rPr lang="en" dirty="0"/>
              <a:t>-g </a:t>
            </a:r>
            <a:r>
              <a:rPr lang="en" dirty="0" err="1"/>
              <a:t>binlog</a:t>
            </a:r>
            <a:r>
              <a:rPr lang="en" dirty="0"/>
              <a:t>-server; </a:t>
            </a:r>
          </a:p>
          <a:p>
            <a:r>
              <a:rPr lang="ru-RU" dirty="0"/>
              <a:t>проверить работу решения на сценариях восстановления.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94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FBA45-76CC-FA0B-C3B6-9913F2E2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Теоретическая основа </a:t>
            </a:r>
            <a:r>
              <a:rPr lang="en" dirty="0"/>
              <a:t>PITR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A40B20-4A8B-E2EF-BF3F-5563E673F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dirty="0"/>
              <a:t>Point-in-Time Recovery — </a:t>
            </a:r>
            <a:r>
              <a:rPr lang="ru-RU" dirty="0"/>
              <a:t>это восстановление базы данных на определенный момент времени.</a:t>
            </a:r>
          </a:p>
          <a:p>
            <a:pPr marL="0" indent="0">
              <a:buNone/>
            </a:pPr>
            <a:r>
              <a:rPr lang="ru-RU" dirty="0"/>
              <a:t>Обычно процесс состоит из двух этапов:</a:t>
            </a:r>
          </a:p>
          <a:p>
            <a:r>
              <a:rPr lang="ru-RU" dirty="0"/>
              <a:t>восстановление полной резервной копии; </a:t>
            </a:r>
          </a:p>
          <a:p>
            <a:r>
              <a:rPr lang="ru-RU" dirty="0"/>
              <a:t>применение </a:t>
            </a:r>
            <a:r>
              <a:rPr lang="en" dirty="0"/>
              <a:t>binary log </a:t>
            </a:r>
            <a:r>
              <a:rPr lang="ru-RU" dirty="0"/>
              <a:t>до нужной точки. </a:t>
            </a:r>
          </a:p>
          <a:p>
            <a:pPr marL="0" indent="0">
              <a:buNone/>
            </a:pPr>
            <a:r>
              <a:rPr lang="en" dirty="0"/>
              <a:t>Binary log </a:t>
            </a:r>
            <a:r>
              <a:rPr lang="ru-RU" dirty="0"/>
              <a:t>содержит изменения данных и позволяет воспроизвести операции, выполненные после создания полной резервной копии.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584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BC6D1-92C4-9486-5FDD-886D1277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существующего подхода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2E861E-23B0-4B9C-2782-9D16E0259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dirty="0"/>
              <a:t>WAL-G </a:t>
            </a:r>
            <a:r>
              <a:rPr lang="ru-RU" dirty="0"/>
              <a:t>уже поддерживает восстановление через </a:t>
            </a:r>
            <a:r>
              <a:rPr lang="en" dirty="0" err="1"/>
              <a:t>binlog</a:t>
            </a:r>
            <a:r>
              <a:rPr lang="en" dirty="0"/>
              <a:t>-replay, </a:t>
            </a:r>
            <a:r>
              <a:rPr lang="ru-RU" dirty="0"/>
              <a:t>однако при больших объемах данных возникают ограничения.</a:t>
            </a:r>
          </a:p>
          <a:p>
            <a:pPr marL="0" indent="0">
              <a:buNone/>
            </a:pPr>
            <a:r>
              <a:rPr lang="ru-RU" dirty="0"/>
              <a:t>Основные проблемы:</a:t>
            </a:r>
          </a:p>
          <a:p>
            <a:r>
              <a:rPr lang="ru-RU" dirty="0"/>
              <a:t>увеличение времени восстановления; </a:t>
            </a:r>
          </a:p>
          <a:p>
            <a:r>
              <a:rPr lang="ru-RU" dirty="0"/>
              <a:t>необходимость обработки больших </a:t>
            </a:r>
            <a:r>
              <a:rPr lang="en" dirty="0"/>
              <a:t>binary log; </a:t>
            </a:r>
          </a:p>
          <a:p>
            <a:r>
              <a:rPr lang="ru-RU" dirty="0"/>
              <a:t>временное использование значительного места на диске; </a:t>
            </a:r>
          </a:p>
          <a:p>
            <a:r>
              <a:rPr lang="ru-RU" dirty="0"/>
              <a:t>сложность работы с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размером более 15 ГБ; </a:t>
            </a:r>
          </a:p>
          <a:p>
            <a:r>
              <a:rPr lang="ru-RU" dirty="0"/>
              <a:t>дополнительная задержка при преобразовании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в </a:t>
            </a:r>
            <a:r>
              <a:rPr lang="en" dirty="0"/>
              <a:t>SQL. </a:t>
            </a:r>
          </a:p>
          <a:p>
            <a:pPr marL="0" indent="0">
              <a:buNone/>
            </a:pPr>
            <a:r>
              <a:rPr lang="ru-RU" dirty="0"/>
              <a:t>В результате возрастает </a:t>
            </a:r>
            <a:r>
              <a:rPr lang="en" dirty="0"/>
              <a:t>RTO — </a:t>
            </a:r>
            <a:r>
              <a:rPr lang="ru-RU" dirty="0"/>
              <a:t>время, необходимое для восстановления сервиса.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951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A02D0-2794-D253-72E4-031C2FC5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разработанного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C1956C-FDD6-F052-6348-55E444D74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Для решения проблемы был разработан режим:</a:t>
            </a:r>
          </a:p>
          <a:p>
            <a:pPr marL="0" indent="0">
              <a:buNone/>
            </a:pPr>
            <a:r>
              <a:rPr lang="en" b="1" dirty="0" err="1"/>
              <a:t>wal</a:t>
            </a:r>
            <a:r>
              <a:rPr lang="en" b="1" dirty="0"/>
              <a:t>-g </a:t>
            </a:r>
            <a:r>
              <a:rPr lang="en" b="1" dirty="0" err="1"/>
              <a:t>binlog</a:t>
            </a:r>
            <a:r>
              <a:rPr lang="en" b="1" dirty="0"/>
              <a:t>-server</a:t>
            </a:r>
            <a:endParaRPr lang="en" dirty="0"/>
          </a:p>
          <a:p>
            <a:pPr marL="0" indent="0">
              <a:buNone/>
            </a:pPr>
            <a:r>
              <a:rPr lang="ru-RU" dirty="0"/>
              <a:t>Основная идея — не преобразовывать </a:t>
            </a:r>
            <a:r>
              <a:rPr lang="en" dirty="0"/>
              <a:t>binary log </a:t>
            </a:r>
            <a:r>
              <a:rPr lang="ru-RU" dirty="0"/>
              <a:t>в единый </a:t>
            </a:r>
            <a:r>
              <a:rPr lang="en" dirty="0"/>
              <a:t>SQL-</a:t>
            </a:r>
            <a:r>
              <a:rPr lang="ru-RU" dirty="0"/>
              <a:t>файл, а применять изменения постепенно через протокол репликации </a:t>
            </a:r>
            <a:r>
              <a:rPr lang="en" dirty="0"/>
              <a:t>MySQL.</a:t>
            </a:r>
          </a:p>
          <a:p>
            <a:pPr marL="0" indent="0">
              <a:buNone/>
            </a:pPr>
            <a:r>
              <a:rPr lang="ru-RU" dirty="0"/>
              <a:t>Такой подход позволяет:</a:t>
            </a:r>
          </a:p>
          <a:p>
            <a:r>
              <a:rPr lang="ru-RU" dirty="0"/>
              <a:t>не создавать большой промежуточный </a:t>
            </a:r>
            <a:r>
              <a:rPr lang="en" dirty="0"/>
              <a:t>SQL-</a:t>
            </a:r>
            <a:r>
              <a:rPr lang="ru-RU" dirty="0"/>
              <a:t>файл; </a:t>
            </a:r>
          </a:p>
          <a:p>
            <a:r>
              <a:rPr lang="ru-RU" dirty="0"/>
              <a:t>применять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последовательно; </a:t>
            </a:r>
          </a:p>
          <a:p>
            <a:r>
              <a:rPr lang="ru-RU" dirty="0"/>
              <a:t>скачивать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только перед применением; </a:t>
            </a:r>
          </a:p>
          <a:p>
            <a:r>
              <a:rPr lang="ru-RU" dirty="0"/>
              <a:t>удалять обработанные файлы после использования.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82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D3D05-B74B-CF58-75F1-733CBBDB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B622E8-9639-2606-BE9A-58BFC8777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Общая схема работы:</a:t>
            </a:r>
          </a:p>
          <a:p>
            <a:pPr marL="0" indent="0">
              <a:buNone/>
            </a:pPr>
            <a:r>
              <a:rPr lang="ru-RU" b="1" dirty="0"/>
              <a:t>Хранилище </a:t>
            </a:r>
            <a:r>
              <a:rPr lang="en" b="1" dirty="0" err="1"/>
              <a:t>binlog</a:t>
            </a:r>
            <a:br>
              <a:rPr lang="en" dirty="0"/>
            </a:br>
            <a:r>
              <a:rPr lang="en" dirty="0"/>
              <a:t>↓</a:t>
            </a:r>
            <a:br>
              <a:rPr lang="en" dirty="0"/>
            </a:br>
            <a:r>
              <a:rPr lang="en" b="1" dirty="0" err="1"/>
              <a:t>wal</a:t>
            </a:r>
            <a:r>
              <a:rPr lang="en" b="1" dirty="0"/>
              <a:t>-g </a:t>
            </a:r>
            <a:r>
              <a:rPr lang="en" b="1" dirty="0" err="1"/>
              <a:t>binlog</a:t>
            </a:r>
            <a:r>
              <a:rPr lang="en" b="1" dirty="0"/>
              <a:t>-server</a:t>
            </a:r>
            <a:br>
              <a:rPr lang="en" dirty="0"/>
            </a:br>
            <a:r>
              <a:rPr lang="en" dirty="0"/>
              <a:t>↓</a:t>
            </a:r>
            <a:br>
              <a:rPr lang="en" dirty="0"/>
            </a:br>
            <a:r>
              <a:rPr lang="ru-RU" b="1" dirty="0"/>
              <a:t>Протокол репликации </a:t>
            </a:r>
            <a:r>
              <a:rPr lang="en" b="1" dirty="0"/>
              <a:t>MySQL</a:t>
            </a:r>
            <a:br>
              <a:rPr lang="en" dirty="0"/>
            </a:br>
            <a:r>
              <a:rPr lang="en" dirty="0"/>
              <a:t>↓</a:t>
            </a:r>
            <a:br>
              <a:rPr lang="en" dirty="0"/>
            </a:br>
            <a:r>
              <a:rPr lang="ru-RU" b="1" dirty="0"/>
              <a:t>Восстанавливаемый </a:t>
            </a:r>
            <a:r>
              <a:rPr lang="en" b="1" dirty="0"/>
              <a:t>MySQL-</a:t>
            </a:r>
            <a:r>
              <a:rPr lang="ru-RU" b="1" dirty="0"/>
              <a:t>инстанс</a:t>
            </a:r>
            <a:endParaRPr lang="ru-RU" dirty="0"/>
          </a:p>
          <a:p>
            <a:pPr marL="0" indent="0">
              <a:buNone/>
            </a:pPr>
            <a:r>
              <a:rPr lang="en" dirty="0" err="1"/>
              <a:t>binlog</a:t>
            </a:r>
            <a:r>
              <a:rPr lang="en" dirty="0"/>
              <a:t>-server </a:t>
            </a:r>
            <a:r>
              <a:rPr lang="ru-RU" dirty="0"/>
              <a:t>выступает промежуточным компонентом, который отдает бинарные логи восстанавливаемому серверу в формате, близком к обычной репликации.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45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9E0A2-E706-B270-CD08-3688E2F9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подхода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9EDC8-948D-E54C-FF8D-5AD842933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Разработанный подход направлен на сокращение времени восстановления и уменьшение нагрузки на диск.</a:t>
            </a:r>
          </a:p>
          <a:p>
            <a:pPr marL="0" indent="0">
              <a:buNone/>
            </a:pPr>
            <a:r>
              <a:rPr lang="ru-RU" dirty="0"/>
              <a:t>Ключевые преимущества:</a:t>
            </a:r>
          </a:p>
          <a:p>
            <a:r>
              <a:rPr lang="ru-RU" dirty="0"/>
              <a:t>ускорение применения </a:t>
            </a:r>
            <a:r>
              <a:rPr lang="en" dirty="0"/>
              <a:t>binary log; </a:t>
            </a:r>
          </a:p>
          <a:p>
            <a:r>
              <a:rPr lang="ru-RU" dirty="0"/>
              <a:t>отсутствие преобразования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в цельный </a:t>
            </a:r>
            <a:r>
              <a:rPr lang="en" dirty="0"/>
              <a:t>SQL; </a:t>
            </a:r>
          </a:p>
          <a:p>
            <a:r>
              <a:rPr lang="ru-RU" dirty="0"/>
              <a:t>поддержка больших </a:t>
            </a:r>
            <a:r>
              <a:rPr lang="en" dirty="0" err="1"/>
              <a:t>binlog</a:t>
            </a:r>
            <a:r>
              <a:rPr lang="en" dirty="0"/>
              <a:t>-</a:t>
            </a:r>
            <a:r>
              <a:rPr lang="ru-RU" dirty="0"/>
              <a:t>файлов более 15 ГБ; </a:t>
            </a:r>
          </a:p>
          <a:p>
            <a:r>
              <a:rPr lang="ru-RU" dirty="0"/>
              <a:t>уменьшение временного использования дискового пространства; </a:t>
            </a:r>
          </a:p>
          <a:p>
            <a:r>
              <a:rPr lang="ru-RU" dirty="0"/>
              <a:t>последовательная обработка файлов; </a:t>
            </a:r>
          </a:p>
          <a:p>
            <a:r>
              <a:rPr lang="ru-RU" dirty="0"/>
              <a:t>удаление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после применения.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023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7B393-ED7E-0D84-47E2-44341EEF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и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1D2E79-2011-B396-1B12-2F4E87A4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" dirty="0" err="1"/>
              <a:t>wal</a:t>
            </a:r>
            <a:r>
              <a:rPr lang="en" dirty="0"/>
              <a:t>-g </a:t>
            </a:r>
            <a:r>
              <a:rPr lang="en" dirty="0" err="1"/>
              <a:t>binlog</a:t>
            </a:r>
            <a:r>
              <a:rPr lang="en" dirty="0"/>
              <a:t>-server </a:t>
            </a:r>
            <a:r>
              <a:rPr lang="ru-RU" dirty="0"/>
              <a:t>решает проблемы скорости и временного диска, но требует предварительной настройки.</a:t>
            </a:r>
          </a:p>
          <a:p>
            <a:pPr marL="0" indent="0">
              <a:buNone/>
            </a:pPr>
            <a:r>
              <a:rPr lang="ru-RU" dirty="0"/>
              <a:t>Перед восстановлением необходимо:</a:t>
            </a:r>
          </a:p>
          <a:p>
            <a:r>
              <a:rPr lang="ru-RU" dirty="0"/>
              <a:t>указать параметры подключения к </a:t>
            </a:r>
            <a:r>
              <a:rPr lang="en" dirty="0"/>
              <a:t>MySQL; </a:t>
            </a:r>
          </a:p>
          <a:p>
            <a:r>
              <a:rPr lang="ru-RU" dirty="0"/>
              <a:t>настроить доступ к хранилищу </a:t>
            </a:r>
            <a:r>
              <a:rPr lang="en" dirty="0" err="1"/>
              <a:t>binlog</a:t>
            </a:r>
            <a:r>
              <a:rPr lang="en" dirty="0"/>
              <a:t>; </a:t>
            </a:r>
          </a:p>
          <a:p>
            <a:r>
              <a:rPr lang="ru-RU" dirty="0"/>
              <a:t>определить начальную и конечную точку восстановления; </a:t>
            </a:r>
          </a:p>
          <a:p>
            <a:r>
              <a:rPr lang="ru-RU" dirty="0"/>
              <a:t>подготовить восстанавливаемый </a:t>
            </a:r>
            <a:r>
              <a:rPr lang="en" dirty="0"/>
              <a:t>MySQL-</a:t>
            </a:r>
            <a:r>
              <a:rPr lang="ru-RU" dirty="0"/>
              <a:t>инстанс; </a:t>
            </a:r>
          </a:p>
          <a:p>
            <a:r>
              <a:rPr lang="ru-RU" dirty="0"/>
              <a:t>проверить совместимость параметров репликации. </a:t>
            </a:r>
          </a:p>
          <a:p>
            <a:pPr marL="0" indent="0">
              <a:buNone/>
            </a:pPr>
            <a:r>
              <a:rPr lang="ru-RU" dirty="0"/>
              <a:t>Таким образом, инструмент автоматизирует важную часть восстановления, но должен использоваться в правильно подготовленной среде.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571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A8CC7-A1A7-4DB4-5776-75BA5763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276EB-9275-D3AF-0C07-A892E2ED5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В ходе работы был разработан инструмент для восстановления </a:t>
            </a:r>
            <a:r>
              <a:rPr lang="en" dirty="0"/>
              <a:t>MySQL </a:t>
            </a:r>
            <a:r>
              <a:rPr lang="ru-RU" dirty="0"/>
              <a:t>на заданную точку времени.</a:t>
            </a:r>
          </a:p>
          <a:p>
            <a:pPr marL="0" indent="0">
              <a:buNone/>
            </a:pPr>
            <a:r>
              <a:rPr lang="ru-RU" dirty="0"/>
              <a:t>Результаты работы:</a:t>
            </a:r>
          </a:p>
          <a:p>
            <a:r>
              <a:rPr lang="ru-RU" dirty="0"/>
              <a:t>изучены механизмы </a:t>
            </a:r>
            <a:r>
              <a:rPr lang="en" dirty="0"/>
              <a:t>PITR </a:t>
            </a:r>
            <a:r>
              <a:rPr lang="ru-RU" dirty="0"/>
              <a:t>в </a:t>
            </a:r>
            <a:r>
              <a:rPr lang="en" dirty="0"/>
              <a:t>MySQL; </a:t>
            </a:r>
          </a:p>
          <a:p>
            <a:r>
              <a:rPr lang="ru-RU" dirty="0"/>
              <a:t>выявлены ограничения восстановления через </a:t>
            </a:r>
            <a:r>
              <a:rPr lang="en" dirty="0" err="1"/>
              <a:t>binlog</a:t>
            </a:r>
            <a:r>
              <a:rPr lang="en" dirty="0"/>
              <a:t>-replay; </a:t>
            </a:r>
          </a:p>
          <a:p>
            <a:r>
              <a:rPr lang="ru-RU" dirty="0"/>
              <a:t>реализован режим </a:t>
            </a:r>
            <a:r>
              <a:rPr lang="en" dirty="0" err="1"/>
              <a:t>wal</a:t>
            </a:r>
            <a:r>
              <a:rPr lang="en" dirty="0"/>
              <a:t>-g </a:t>
            </a:r>
            <a:r>
              <a:rPr lang="en" dirty="0" err="1"/>
              <a:t>binlog</a:t>
            </a:r>
            <a:r>
              <a:rPr lang="en" dirty="0"/>
              <a:t>-server; </a:t>
            </a:r>
          </a:p>
          <a:p>
            <a:r>
              <a:rPr lang="ru-RU" dirty="0"/>
              <a:t>обеспечено постепенное применение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через протокол репликации; </a:t>
            </a:r>
          </a:p>
          <a:p>
            <a:r>
              <a:rPr lang="ru-RU" dirty="0"/>
              <a:t>снижены требования к временному месту на диске; </a:t>
            </a:r>
          </a:p>
          <a:p>
            <a:r>
              <a:rPr lang="ru-RU" dirty="0"/>
              <a:t>улучшена работа с большими </a:t>
            </a:r>
            <a:r>
              <a:rPr lang="en" dirty="0"/>
              <a:t>binary log. </a:t>
            </a:r>
          </a:p>
          <a:p>
            <a:pPr marL="0" indent="0">
              <a:buNone/>
            </a:pPr>
            <a:r>
              <a:rPr lang="ru-RU" dirty="0"/>
              <a:t>Разработанное решение может использоваться для ускорения восстановления </a:t>
            </a:r>
            <a:r>
              <a:rPr lang="en" dirty="0"/>
              <a:t>MySQL </a:t>
            </a:r>
            <a:r>
              <a:rPr lang="ru-RU" dirty="0"/>
              <a:t>после сбоев и ошибок в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892283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11</TotalTime>
  <Words>554</Words>
  <Application>Microsoft Macintosh PowerPoint</Application>
  <PresentationFormat>Широкоэкранный</PresentationFormat>
  <Paragraphs>75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Franklin Gothic Book</vt:lpstr>
      <vt:lpstr>Уголки</vt:lpstr>
      <vt:lpstr>Дипломная работа  Тема: Разработка инструмента для восстановления базы данных MySQL на точку во времени</vt:lpstr>
      <vt:lpstr>Актуальность темы</vt:lpstr>
      <vt:lpstr>Цель и задачи работы</vt:lpstr>
      <vt:lpstr>Теоретическая основа PITR</vt:lpstr>
      <vt:lpstr>Проблема существующего подхода</vt:lpstr>
      <vt:lpstr>Идея разработанного решения</vt:lpstr>
      <vt:lpstr>Архитектура решения</vt:lpstr>
      <vt:lpstr>Преимущества подхода</vt:lpstr>
      <vt:lpstr>Особенности и ограничения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Кирилл Фирсов</dc:creator>
  <cp:lastModifiedBy>Кирилл Фирсов</cp:lastModifiedBy>
  <cp:revision>1</cp:revision>
  <dcterms:created xsi:type="dcterms:W3CDTF">2026-05-22T15:35:40Z</dcterms:created>
  <dcterms:modified xsi:type="dcterms:W3CDTF">2026-05-22T15:47:26Z</dcterms:modified>
</cp:coreProperties>
</file>